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</p:sldIdLst>
  <p:sldSz cx="18288000" cy="10287000"/>
  <p:notesSz cx="6858000" cy="9144000"/>
  <p:embeddedFontLst>
    <p:embeddedFont>
      <p:font typeface="Canva Sans" panose="020B0604020202020204" charset="0"/>
      <p:regular r:id="rId3"/>
    </p:embeddedFont>
    <p:embeddedFont>
      <p:font typeface="Open Sans Bold" panose="020B0604020202020204" charset="0"/>
      <p:regular r:id="rId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60" d="100"/>
          <a:sy n="60" d="100"/>
        </p:scale>
        <p:origin x="149" y="-1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font" Target="fonts/font1.fntdata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font" Target="fonts/font2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CC0DF">
                <a:alpha val="100000"/>
              </a:srgbClr>
            </a:gs>
            <a:gs pos="100000">
              <a:srgbClr val="FFDE59">
                <a:alpha val="100000"/>
              </a:srgbClr>
            </a:gs>
          </a:gsLst>
          <a:lin ang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5736605"/>
            <a:ext cx="1436963" cy="1706678"/>
            <a:chOff x="0" y="0"/>
            <a:chExt cx="7237387" cy="859583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237349" cy="8595868"/>
            </a:xfrm>
            <a:custGeom>
              <a:avLst/>
              <a:gdLst/>
              <a:ahLst/>
              <a:cxnLst/>
              <a:rect l="l" t="t" r="r" b="b"/>
              <a:pathLst>
                <a:path w="7237349" h="8595868">
                  <a:moveTo>
                    <a:pt x="0" y="0"/>
                  </a:moveTo>
                  <a:lnTo>
                    <a:pt x="7237349" y="0"/>
                  </a:lnTo>
                  <a:lnTo>
                    <a:pt x="7237349" y="8595868"/>
                  </a:lnTo>
                  <a:lnTo>
                    <a:pt x="0" y="85958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911" r="-91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Freeform 4"/>
          <p:cNvSpPr/>
          <p:nvPr/>
        </p:nvSpPr>
        <p:spPr>
          <a:xfrm>
            <a:off x="9525000" y="5649260"/>
            <a:ext cx="7606322" cy="4931243"/>
          </a:xfrm>
          <a:custGeom>
            <a:avLst/>
            <a:gdLst/>
            <a:ahLst/>
            <a:cxnLst/>
            <a:rect l="l" t="t" r="r" b="b"/>
            <a:pathLst>
              <a:path w="7336255" h="4585159">
                <a:moveTo>
                  <a:pt x="0" y="0"/>
                </a:moveTo>
                <a:lnTo>
                  <a:pt x="7336254" y="0"/>
                </a:lnTo>
                <a:lnTo>
                  <a:pt x="7336254" y="4585159"/>
                </a:lnTo>
                <a:lnTo>
                  <a:pt x="0" y="45851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5" name="Freeform 5"/>
          <p:cNvSpPr/>
          <p:nvPr/>
        </p:nvSpPr>
        <p:spPr>
          <a:xfrm>
            <a:off x="4374231" y="-2385604"/>
            <a:ext cx="12186487" cy="4493767"/>
          </a:xfrm>
          <a:custGeom>
            <a:avLst/>
            <a:gdLst/>
            <a:ahLst/>
            <a:cxnLst/>
            <a:rect l="l" t="t" r="r" b="b"/>
            <a:pathLst>
              <a:path w="12186487" h="4493767">
                <a:moveTo>
                  <a:pt x="0" y="0"/>
                </a:moveTo>
                <a:lnTo>
                  <a:pt x="12186487" y="0"/>
                </a:lnTo>
                <a:lnTo>
                  <a:pt x="12186487" y="4493767"/>
                </a:lnTo>
                <a:lnTo>
                  <a:pt x="0" y="449376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/>
          <p:cNvSpPr/>
          <p:nvPr/>
        </p:nvSpPr>
        <p:spPr>
          <a:xfrm>
            <a:off x="10661033" y="1005018"/>
            <a:ext cx="7606322" cy="4623259"/>
          </a:xfrm>
          <a:custGeom>
            <a:avLst/>
            <a:gdLst/>
            <a:ahLst/>
            <a:cxnLst/>
            <a:rect l="l" t="t" r="r" b="b"/>
            <a:pathLst>
              <a:path w="7336255" h="4585159">
                <a:moveTo>
                  <a:pt x="0" y="0"/>
                </a:moveTo>
                <a:lnTo>
                  <a:pt x="7336254" y="0"/>
                </a:lnTo>
                <a:lnTo>
                  <a:pt x="7336254" y="4585159"/>
                </a:lnTo>
                <a:lnTo>
                  <a:pt x="0" y="458515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7" name="Group 7"/>
          <p:cNvGrpSpPr/>
          <p:nvPr/>
        </p:nvGrpSpPr>
        <p:grpSpPr>
          <a:xfrm>
            <a:off x="718481" y="3895695"/>
            <a:ext cx="2721156" cy="2307605"/>
            <a:chOff x="0" y="0"/>
            <a:chExt cx="958464" cy="8128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958464" cy="812800"/>
            </a:xfrm>
            <a:custGeom>
              <a:avLst/>
              <a:gdLst/>
              <a:ahLst/>
              <a:cxnLst/>
              <a:rect l="l" t="t" r="r" b="b"/>
              <a:pathLst>
                <a:path w="958464" h="812800">
                  <a:moveTo>
                    <a:pt x="479232" y="0"/>
                  </a:moveTo>
                  <a:cubicBezTo>
                    <a:pt x="214559" y="0"/>
                    <a:pt x="0" y="181951"/>
                    <a:pt x="0" y="406400"/>
                  </a:cubicBezTo>
                  <a:cubicBezTo>
                    <a:pt x="0" y="630849"/>
                    <a:pt x="214559" y="812800"/>
                    <a:pt x="479232" y="812800"/>
                  </a:cubicBezTo>
                  <a:cubicBezTo>
                    <a:pt x="743904" y="812800"/>
                    <a:pt x="958464" y="630849"/>
                    <a:pt x="958464" y="406400"/>
                  </a:cubicBezTo>
                  <a:cubicBezTo>
                    <a:pt x="958464" y="181951"/>
                    <a:pt x="743904" y="0"/>
                    <a:pt x="479232" y="0"/>
                  </a:cubicBezTo>
                  <a:close/>
                </a:path>
              </a:pathLst>
            </a:custGeom>
            <a:solidFill>
              <a:srgbClr val="B9D584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89856" y="38100"/>
              <a:ext cx="778752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Flask Microweb- Framwork Project</a:t>
              </a:r>
            </a:p>
          </p:txBody>
        </p:sp>
      </p:grpSp>
      <p:sp>
        <p:nvSpPr>
          <p:cNvPr id="10" name="Freeform 10"/>
          <p:cNvSpPr/>
          <p:nvPr/>
        </p:nvSpPr>
        <p:spPr>
          <a:xfrm>
            <a:off x="0" y="-725420"/>
            <a:ext cx="4350992" cy="2833583"/>
          </a:xfrm>
          <a:custGeom>
            <a:avLst/>
            <a:gdLst/>
            <a:ahLst/>
            <a:cxnLst/>
            <a:rect l="l" t="t" r="r" b="b"/>
            <a:pathLst>
              <a:path w="4350992" h="2833583">
                <a:moveTo>
                  <a:pt x="0" y="0"/>
                </a:moveTo>
                <a:lnTo>
                  <a:pt x="4350992" y="0"/>
                </a:lnTo>
                <a:lnTo>
                  <a:pt x="4350992" y="2833583"/>
                </a:lnTo>
                <a:lnTo>
                  <a:pt x="0" y="283358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1" name="TextBox 11"/>
          <p:cNvSpPr txBox="1"/>
          <p:nvPr/>
        </p:nvSpPr>
        <p:spPr>
          <a:xfrm>
            <a:off x="3785696" y="3442853"/>
            <a:ext cx="15980395" cy="32132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13"/>
              </a:lnSpc>
              <a:spcBef>
                <a:spcPct val="0"/>
              </a:spcBef>
            </a:pPr>
            <a:r>
              <a:rPr lang="en-US" sz="2600" b="1">
                <a:solidFill>
                  <a:srgbClr val="5E17E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Webpage contains tabs for simple tools: </a:t>
            </a:r>
          </a:p>
          <a:p>
            <a:pPr marL="518162" lvl="1" indent="-259081" algn="l">
              <a:lnSpc>
                <a:spcPts val="2781"/>
              </a:lnSpc>
              <a:buFont typeface="Arial"/>
              <a:buChar char="•"/>
            </a:pPr>
            <a:r>
              <a:rPr lang="en-US" sz="240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Welcome</a:t>
            </a:r>
          </a:p>
          <a:p>
            <a:pPr marL="518162" lvl="1" indent="-259081" algn="l">
              <a:lnSpc>
                <a:spcPts val="2781"/>
              </a:lnSpc>
              <a:buFont typeface="Arial"/>
              <a:buChar char="•"/>
            </a:pPr>
            <a:r>
              <a:rPr lang="en-US" sz="240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State abbreviation convertor </a:t>
            </a:r>
          </a:p>
          <a:p>
            <a:pPr marL="518162" lvl="1" indent="-259081" algn="l">
              <a:lnSpc>
                <a:spcPts val="2781"/>
              </a:lnSpc>
              <a:buFont typeface="Arial"/>
              <a:buChar char="•"/>
            </a:pPr>
            <a:r>
              <a:rPr lang="en-US" sz="240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Simple calculator</a:t>
            </a:r>
          </a:p>
          <a:p>
            <a:pPr marL="518162" lvl="1" indent="-259081" algn="l">
              <a:lnSpc>
                <a:spcPts val="2781"/>
              </a:lnSpc>
              <a:buFont typeface="Arial"/>
              <a:buChar char="•"/>
            </a:pPr>
            <a:r>
              <a:rPr lang="en-US" sz="240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Guessing-number game</a:t>
            </a:r>
          </a:p>
          <a:p>
            <a:pPr marL="518162" lvl="1" indent="-259081" algn="l">
              <a:lnSpc>
                <a:spcPts val="2781"/>
              </a:lnSpc>
              <a:buFont typeface="Arial"/>
              <a:buChar char="•"/>
            </a:pPr>
            <a:r>
              <a:rPr lang="en-US" sz="240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Excel-upload display</a:t>
            </a:r>
          </a:p>
          <a:p>
            <a:pPr marL="518162" lvl="1" indent="-259081" algn="l">
              <a:lnSpc>
                <a:spcPts val="2781"/>
              </a:lnSpc>
              <a:buFont typeface="Arial"/>
              <a:buChar char="•"/>
            </a:pPr>
            <a:r>
              <a:rPr lang="en-US" sz="240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Motivation images</a:t>
            </a:r>
          </a:p>
          <a:p>
            <a:pPr marL="518162" lvl="1" indent="-259081" algn="l">
              <a:lnSpc>
                <a:spcPts val="2781"/>
              </a:lnSpc>
              <a:buFont typeface="Arial"/>
              <a:buChar char="•"/>
            </a:pPr>
            <a:r>
              <a:rPr lang="en-US" sz="240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Text transformation</a:t>
            </a:r>
          </a:p>
          <a:p>
            <a:pPr marL="518162" lvl="1" indent="-259081" algn="l">
              <a:lnSpc>
                <a:spcPts val="2783"/>
              </a:lnSpc>
              <a:buFont typeface="Arial"/>
              <a:buChar char="•"/>
            </a:pPr>
            <a:r>
              <a:rPr lang="en-US" sz="240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Sessions-cookies display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735359" y="151063"/>
            <a:ext cx="10039086" cy="769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30"/>
              </a:lnSpc>
            </a:pPr>
            <a:r>
              <a:rPr lang="en-US" sz="5198" b="1" dirty="0">
                <a:gradFill>
                  <a:gsLst>
                    <a:gs pos="0">
                      <a:srgbClr val="FF5757">
                        <a:alpha val="100000"/>
                      </a:srgbClr>
                    </a:gs>
                    <a:gs pos="100000">
                      <a:srgbClr val="8C52FF">
                        <a:alpha val="100000"/>
                      </a:srgbClr>
                    </a:gs>
                  </a:gsLst>
                  <a:lin ang="0"/>
                </a:gradFill>
                <a:latin typeface="Open Sans Bold"/>
                <a:ea typeface="Open Sans Bold"/>
                <a:cs typeface="Open Sans Bold"/>
                <a:sym typeface="Open Sans Bold"/>
              </a:rPr>
              <a:t>Flask-Multi-Tools Webpage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84367" y="811886"/>
            <a:ext cx="3582257" cy="6981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81"/>
              </a:lnSpc>
            </a:pPr>
            <a:r>
              <a:rPr lang="en-US" sz="240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Project is developed by </a:t>
            </a:r>
          </a:p>
          <a:p>
            <a:pPr algn="ctr">
              <a:lnSpc>
                <a:spcPts val="2783"/>
              </a:lnSpc>
              <a:spcBef>
                <a:spcPct val="0"/>
              </a:spcBef>
            </a:pPr>
            <a:r>
              <a:rPr lang="en-US" sz="240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Quang Huynh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204340" y="2712368"/>
            <a:ext cx="6888194" cy="4143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7"/>
              </a:lnSpc>
              <a:spcBef>
                <a:spcPct val="0"/>
              </a:spcBef>
            </a:pPr>
            <a:r>
              <a:rPr lang="en-US" sz="2799" b="1">
                <a:solidFill>
                  <a:srgbClr val="5E17E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A webserver running on local machine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436963" y="7446717"/>
            <a:ext cx="8862941" cy="24602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81"/>
              </a:lnSpc>
              <a:spcBef>
                <a:spcPct val="0"/>
              </a:spcBef>
            </a:pPr>
            <a:r>
              <a:rPr lang="en-US" sz="2400" b="1">
                <a:solidFill>
                  <a:srgbClr val="5E17E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Web also incorporate menu on top right corner: </a:t>
            </a:r>
          </a:p>
          <a:p>
            <a:pPr marL="518160" lvl="1" indent="-259080" algn="l">
              <a:lnSpc>
                <a:spcPts val="2781"/>
              </a:lnSpc>
              <a:buFont typeface="Arial"/>
              <a:buChar char="•"/>
            </a:pPr>
            <a:r>
              <a:rPr lang="en-US" sz="240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"Home": return to homepage</a:t>
            </a:r>
          </a:p>
          <a:p>
            <a:pPr marL="518160" lvl="1" indent="-259080" algn="l">
              <a:lnSpc>
                <a:spcPts val="2781"/>
              </a:lnSpc>
              <a:buFont typeface="Arial"/>
              <a:buChar char="•"/>
            </a:pPr>
            <a:r>
              <a:rPr lang="en-US" sz="240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"About": the purpose of the webpage</a:t>
            </a:r>
          </a:p>
          <a:p>
            <a:pPr marL="518160" lvl="1" indent="-259080" algn="l">
              <a:lnSpc>
                <a:spcPts val="2781"/>
              </a:lnSpc>
              <a:buFont typeface="Arial"/>
              <a:buChar char="•"/>
            </a:pPr>
            <a:r>
              <a:rPr lang="en-US" sz="240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"Contact": for feedbacks and recommendations</a:t>
            </a:r>
          </a:p>
          <a:p>
            <a:pPr marL="518160" lvl="1" indent="-259080" algn="l">
              <a:lnSpc>
                <a:spcPts val="2783"/>
              </a:lnSpc>
              <a:buFont typeface="Arial"/>
              <a:buChar char="•"/>
            </a:pPr>
            <a:r>
              <a:rPr lang="en-US" sz="240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“Login”: for simple user verification (though not recommended for credential storage in real production =&gt; SQLite, MySQl the way to go)</a:t>
            </a:r>
          </a:p>
        </p:txBody>
      </p:sp>
      <p:sp>
        <p:nvSpPr>
          <p:cNvPr id="16" name="AutoShape 16"/>
          <p:cNvSpPr/>
          <p:nvPr/>
        </p:nvSpPr>
        <p:spPr>
          <a:xfrm flipV="1">
            <a:off x="625105" y="2914771"/>
            <a:ext cx="521598" cy="201890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7" name="AutoShape 17"/>
          <p:cNvSpPr/>
          <p:nvPr/>
        </p:nvSpPr>
        <p:spPr>
          <a:xfrm>
            <a:off x="3439637" y="5049498"/>
            <a:ext cx="346059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8" name="AutoShape 18"/>
          <p:cNvSpPr/>
          <p:nvPr/>
        </p:nvSpPr>
        <p:spPr>
          <a:xfrm>
            <a:off x="2079059" y="6203300"/>
            <a:ext cx="3789374" cy="122436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99</Words>
  <Application>Microsoft Office PowerPoint</Application>
  <PresentationFormat>Custom</PresentationFormat>
  <Paragraphs>19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Calibri</vt:lpstr>
      <vt:lpstr>Canva Sans</vt:lpstr>
      <vt:lpstr>Arial</vt:lpstr>
      <vt:lpstr>Open Sans Bold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Flask-Multi-Tools Webpage</dc:title>
  <cp:lastModifiedBy>Quang Huynh</cp:lastModifiedBy>
  <cp:revision>3</cp:revision>
  <dcterms:created xsi:type="dcterms:W3CDTF">2006-08-16T00:00:00Z</dcterms:created>
  <dcterms:modified xsi:type="dcterms:W3CDTF">2026-04-30T22:27:16Z</dcterms:modified>
  <dc:identifier>DAHIXaJQDeA</dc:identifier>
</cp:coreProperties>
</file>